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B245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252F6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234440" cy="1234440"/>
          </a:xfrm>
          <a:prstGeom prst="roundRect">
            <a:avLst>
              <a:gd name="adj" fmla="val 16296"/>
            </a:avLst>
          </a:prstGeom>
          <a:solidFill>
            <a:srgbClr val="5B7C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225296"/>
            <a:ext cx="612648" cy="612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Message Chat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68680" y="3401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chat tin nhắn âm thanh được mã hóa AES-256 &amp; RSA-2048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2606040" cy="512064"/>
          </a:xfrm>
          <a:prstGeom prst="roundRect">
            <a:avLst>
              <a:gd name="adj" fmla="val 17857"/>
            </a:avLst>
          </a:prstGeom>
          <a:solidFill>
            <a:srgbClr val="1B245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1605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4160520"/>
            <a:ext cx="2743200" cy="512064"/>
          </a:xfrm>
          <a:prstGeom prst="roundRect">
            <a:avLst>
              <a:gd name="adj" fmla="val 17857"/>
            </a:avLst>
          </a:prstGeom>
          <a:solidFill>
            <a:srgbClr val="1B2450"/>
          </a:solidFill>
          <a:ln/>
        </p:spPr>
      </p:sp>
      <p:sp>
        <p:nvSpPr>
          <p:cNvPr id="11" name="Text 8"/>
          <p:cNvSpPr/>
          <p:nvPr/>
        </p:nvSpPr>
        <p:spPr>
          <a:xfrm>
            <a:off x="3611880" y="41605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· OAEP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4160520"/>
            <a:ext cx="2697480" cy="512064"/>
          </a:xfrm>
          <a:prstGeom prst="roundRect">
            <a:avLst>
              <a:gd name="adj" fmla="val 17857"/>
            </a:avLst>
          </a:prstGeom>
          <a:solidFill>
            <a:srgbClr val="1B245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1605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· PSS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· Toàn vẹn · Xác thực — chứng minh trực quan encryption at rest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môn học — An toàn &amp; Bảo mật thông tin  ·  07/2026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" y="17465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2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16002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 &amp; mục tiêu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355080" y="16002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01384" y="17465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7452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01384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132320" y="16002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&amp; kiến trúc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25146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86384" y="26609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8892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25146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355080" y="25146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01384" y="26609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78892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01384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132320" y="25146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ba mật mã AES + RSA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40080" y="34290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86384" y="35753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86384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417320" y="34290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thuật toán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6355080" y="34290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01384" y="35753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703320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501384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7132320" y="34290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gửi &amp; nhận (fail-closed)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640080" y="43434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86384" y="44897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617720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86384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1417320" y="43434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(SQLite)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6355080" y="43434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501384" y="44897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617720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501384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33"/>
          <p:cNvSpPr/>
          <p:nvPr/>
        </p:nvSpPr>
        <p:spPr>
          <a:xfrm>
            <a:off x="7132320" y="43434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&amp; Server View</a:t>
            </a:r>
            <a:endParaRPr lang="en-US" sz="1500" dirty="0"/>
          </a:p>
        </p:txBody>
      </p:sp>
      <p:sp>
        <p:nvSpPr>
          <p:cNvPr id="45" name="Shape 34"/>
          <p:cNvSpPr/>
          <p:nvPr/>
        </p:nvSpPr>
        <p:spPr>
          <a:xfrm>
            <a:off x="640080" y="52578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786384" y="54041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532120"/>
            <a:ext cx="201168" cy="20116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86384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Text 37"/>
          <p:cNvSpPr/>
          <p:nvPr/>
        </p:nvSpPr>
        <p:spPr>
          <a:xfrm>
            <a:off x="1417320" y="52578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tấn công</a:t>
            </a:r>
            <a:endParaRPr lang="en-US" sz="1500" dirty="0"/>
          </a:p>
        </p:txBody>
      </p:sp>
      <p:sp>
        <p:nvSpPr>
          <p:cNvPr id="50" name="Shape 38"/>
          <p:cNvSpPr/>
          <p:nvPr/>
        </p:nvSpPr>
        <p:spPr>
          <a:xfrm>
            <a:off x="6355080" y="525780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6501384" y="540410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5532120"/>
            <a:ext cx="201168" cy="20116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6501384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41"/>
          <p:cNvSpPr/>
          <p:nvPr/>
        </p:nvSpPr>
        <p:spPr>
          <a:xfrm>
            <a:off x="7132320" y="52578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· Hạn chế · Kết luận</a:t>
            </a:r>
            <a:endParaRPr lang="en-US" sz="1500" dirty="0"/>
          </a:p>
        </p:txBody>
      </p:sp>
      <p:sp>
        <p:nvSpPr>
          <p:cNvPr id="55" name="Text 42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56" name="Text 43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nhắn âm thanh nếu lưu ở dạng thô sẽ đối mặt nhiều rủi ro: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2267712"/>
            <a:ext cx="548640" cy="54864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242133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579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máy chủ bị lộ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00200" y="252374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tấn công nghe được toàn bộ audio gốc.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18688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41248" y="3474720"/>
            <a:ext cx="548640" cy="548640"/>
          </a:xfrm>
          <a:prstGeom prst="ellipse">
            <a:avLst/>
          </a:prstGeom>
          <a:solidFill>
            <a:srgbClr val="E39B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362833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36499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lén &amp; mạo danh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600200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bị chặn giữa đường hoặc bị giả người gửi.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425696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1248" y="4681728"/>
            <a:ext cx="548640" cy="54864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" y="4835347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572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đổi âm thầm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600200" y="4937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bị chỉnh mà không ai phát hiện.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629400" y="2011680"/>
            <a:ext cx="4892040" cy="3282696"/>
          </a:xfrm>
          <a:prstGeom prst="roundRect">
            <a:avLst>
              <a:gd name="adj" fmla="val 2507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03720" y="2286000"/>
            <a:ext cx="640080" cy="64008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942" y="2465222"/>
            <a:ext cx="281635" cy="28163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8096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đặt ra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903720" y="31546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sao vừa GIẤU nội dung, vừa CHỐNG SỬA, vừa XÁC THỰC nguồn gốc của mỗi tin nhắn âm thanh?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Giải pháp: mã hóa lai AES + RSA kèm chữ ký số.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đề tài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10512"/>
            <a:ext cx="731520" cy="73152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6" y="2015338"/>
            <a:ext cx="321869" cy="3218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14400" y="30632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giấu nội dung audio khỏi mọi bên không có khóa.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43400" y="155448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1810512"/>
            <a:ext cx="731520" cy="73152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46" y="2015338"/>
            <a:ext cx="321869" cy="3218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vẹn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617720" y="30632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tag GCM phát hiện mọi thay đổi dù chỉ 1 bit.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46720" y="155448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FBF2E0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21040" y="1810512"/>
            <a:ext cx="731520" cy="731520"/>
          </a:xfrm>
          <a:prstGeom prst="ellipse">
            <a:avLst/>
          </a:prstGeom>
          <a:solidFill>
            <a:srgbClr val="E39B3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866" y="2015338"/>
            <a:ext cx="321869" cy="3218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321040" y="30632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RSA-PSS chứng minh đúng người gửi.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114800"/>
            <a:ext cx="10911535" cy="1600200"/>
          </a:xfrm>
          <a:prstGeom prst="roundRect">
            <a:avLst>
              <a:gd name="adj" fmla="val 5714"/>
            </a:avLst>
          </a:prstGeom>
          <a:solidFill>
            <a:srgbClr val="0F1533"/>
          </a:solidFill>
          <a:ln/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4498848"/>
            <a:ext cx="822960" cy="82296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69" y="4729277"/>
            <a:ext cx="362102" cy="3621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5740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demo cốt lõi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2057400" y="4800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trực tiếp database chỉ thấy ciphertext base64 vô nghĩa — KHÔNG nghe được audio gốc.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chính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47088"/>
            <a:ext cx="685800" cy="6858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039112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334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&amp; sinh khóa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30632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tên → tự tạo cặp RSA-2048.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55448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1847088"/>
            <a:ext cx="685800" cy="68580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39112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6334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âm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17720" y="30632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MediaRecorder (Web Audio API).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46720" y="155448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21040" y="1847088"/>
            <a:ext cx="685800" cy="6858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039112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6334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mã hóa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21040" y="30632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mã hóa + ký + lưu.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4270248"/>
            <a:ext cx="685800" cy="685800"/>
          </a:xfrm>
          <a:prstGeom prst="ellipse">
            <a:avLst/>
          </a:prstGeom>
          <a:solidFill>
            <a:srgbClr val="E39B3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462272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50566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&amp; giải mã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14400" y="5486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chữ ký + tag rồi phát.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343400" y="3977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7720" y="4270248"/>
            <a:ext cx="685800" cy="6858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462272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7720" y="50566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View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617720" y="5486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đúng ciphertext server lưu.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046720" y="3977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21040" y="4270248"/>
            <a:ext cx="685800" cy="68580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462272"/>
            <a:ext cx="301752" cy="30175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21040" y="50566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tấn công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8321040" y="5486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dữ liệu → hệ thống chặn.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55168" y="1783080"/>
            <a:ext cx="3108960" cy="2514600"/>
          </a:xfrm>
          <a:prstGeom prst="roundRect">
            <a:avLst>
              <a:gd name="adj" fmla="val 327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5600" y="2057400"/>
            <a:ext cx="768096" cy="768096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66" y="2272467"/>
            <a:ext cx="337962" cy="337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5168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5168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5168" y="3611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âm · gửi · phát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View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782416" y="278892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4541368" y="1783080"/>
            <a:ext cx="3108960" cy="2514600"/>
          </a:xfrm>
          <a:prstGeom prst="roundRect">
            <a:avLst>
              <a:gd name="adj" fmla="val 327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11800" y="2057400"/>
            <a:ext cx="768096" cy="768096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866" y="2272467"/>
            <a:ext cx="337962" cy="337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41368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41368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crypto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41368" y="3611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/ giải mã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&amp; xác minh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668616" y="278892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8427568" y="1783080"/>
            <a:ext cx="3108960" cy="2514600"/>
          </a:xfrm>
          <a:prstGeom prst="roundRect">
            <a:avLst>
              <a:gd name="adj" fmla="val 327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98000" y="2057400"/>
            <a:ext cx="768096" cy="768096"/>
          </a:xfrm>
          <a:prstGeom prst="ellipse">
            <a:avLst/>
          </a:prstGeom>
          <a:solidFill>
            <a:srgbClr val="E39B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066" y="2272467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27568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427568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427568" y="3611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lưu ciphertext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(đã mã hóa)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55168" y="4389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(client polling mỗi 3s)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07492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E6F7F1"/>
          </a:solidFill>
          <a:ln/>
        </p:spPr>
      </p:sp>
      <p:sp>
        <p:nvSpPr>
          <p:cNvPr id="27" name="Shape 21"/>
          <p:cNvSpPr/>
          <p:nvPr/>
        </p:nvSpPr>
        <p:spPr>
          <a:xfrm>
            <a:off x="932688" y="5257800"/>
            <a:ext cx="502920" cy="50292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6" y="5398618"/>
            <a:ext cx="221285" cy="2212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45920" y="50749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thực thi ở backend → chứng minh encryption at rest. (Hạn chế: chưa E2E — nêu rõ ở cuối.)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47088"/>
            <a:ext cx="685800" cy="6858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039112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334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14400" y="30632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Swagger tự sinh.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55448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1847088"/>
            <a:ext cx="685800" cy="6858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39112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6334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(pyca)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17720" y="30632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AES-GCM, RSA-OAEP, RSA-PSS.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46720" y="155448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21040" y="1847088"/>
            <a:ext cx="685800" cy="685800"/>
          </a:xfrm>
          <a:prstGeom prst="ellipse">
            <a:avLst/>
          </a:prstGeom>
          <a:solidFill>
            <a:srgbClr val="E39B3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039112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6334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21040" y="30632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bản ghi đã mã hóa.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4270248"/>
            <a:ext cx="685800" cy="6858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462272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50566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914400" y="5486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2 khu, HMR nhanh.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343400" y="3977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7720" y="4270248"/>
            <a:ext cx="685800" cy="68580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462272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7720" y="50566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4617720" y="5486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MediaRecorder ghi âm.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046720" y="3977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21040" y="4270248"/>
            <a:ext cx="685800" cy="6858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462272"/>
            <a:ext cx="301752" cy="30175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21040" y="50566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polling</a:t>
            </a:r>
            <a:endParaRPr lang="en-US" sz="1550" dirty="0"/>
          </a:p>
        </p:txBody>
      </p:sp>
      <p:sp>
        <p:nvSpPr>
          <p:cNvPr id="34" name="Text 25"/>
          <p:cNvSpPr/>
          <p:nvPr/>
        </p:nvSpPr>
        <p:spPr>
          <a:xfrm>
            <a:off x="8321040" y="5486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tin nhắn định kỳ.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B245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LÕI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ba mật mã: AES + RSA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1B245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3419856"/>
            <a:ext cx="731520" cy="73152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514" y="3624682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42793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2688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nội dung audio + auth tag.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310896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1B2450"/>
          </a:solidFill>
          <a:ln/>
        </p:spPr>
      </p:sp>
      <p:sp>
        <p:nvSpPr>
          <p:cNvPr id="11" name="Shape 8"/>
          <p:cNvSpPr/>
          <p:nvPr/>
        </p:nvSpPr>
        <p:spPr>
          <a:xfrm>
            <a:off x="4773168" y="3419856"/>
            <a:ext cx="731520" cy="73152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3624682"/>
            <a:ext cx="321869" cy="3218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42793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· OAEP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73168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Bọc (mã hóa) khóa AES session.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310896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1B2450"/>
          </a:solidFill>
          <a:ln/>
        </p:spPr>
      </p:sp>
      <p:sp>
        <p:nvSpPr>
          <p:cNvPr id="16" name="Shape 12"/>
          <p:cNvSpPr/>
          <p:nvPr/>
        </p:nvSpPr>
        <p:spPr>
          <a:xfrm>
            <a:off x="8613648" y="3419856"/>
            <a:ext cx="731520" cy="731520"/>
          </a:xfrm>
          <a:prstGeom prst="ellipse">
            <a:avLst/>
          </a:prstGeom>
          <a:solidFill>
            <a:srgbClr val="E39B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4" y="3624682"/>
            <a:ext cx="321869" cy="3218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13648" y="42793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· PSS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13648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&amp; xác minh nguồn gốc tin.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dùng mã hóa lai (hybrid)?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" y="1962302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8105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đối xứng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nhanh, xử lý audio lớn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CHUNG 1 khóa để mã &amp; giải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trao khóa an toàn qua mạng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45352" y="150876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19672" y="1783080"/>
            <a:ext cx="640080" cy="64008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94" y="19623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96912" y="18105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— bất đối xứng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65392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 khóa public / private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khi trao khóa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Chậm, chỉ mã hóa dữ liệu nhỏ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343400"/>
            <a:ext cx="10911535" cy="1463040"/>
          </a:xfrm>
          <a:prstGeom prst="roundRect">
            <a:avLst>
              <a:gd name="adj" fmla="val 6250"/>
            </a:avLst>
          </a:prstGeom>
          <a:solidFill>
            <a:srgbClr val="0F1533"/>
          </a:solidFill>
          <a:ln/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60120" y="4681728"/>
            <a:ext cx="777240" cy="77724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" y="4899355"/>
            <a:ext cx="341986" cy="3419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65960" y="4526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(hybrid)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965960" y="495604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mã hóa audio (nhanh) — RSA bọc khóa AES (trao khóa an toàn). Lấy ưu điểm của cả hai.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— mã hóa nội dung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AES 256-bit sinh ngẫu nhiên cho MỖI tin</a:t>
            </a:r>
            <a:endParaRPr lang="en-US" sz="155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/ IV 12 byte ngẫu nhiên, không tái sử dụng</a:t>
            </a:r>
            <a:endParaRPr lang="en-US" sz="155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= bảo mật + toàn vẹn trong một bước</a:t>
            </a:r>
            <a:endParaRPr lang="en-US" sz="155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tag 16 byte phát hiện mọi sửa đổi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26480" y="155448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25511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key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26480" y="292608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329184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BF2E0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4198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/ nonce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26480" y="379476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818120" y="23317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818120" y="2651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818120" y="3063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8549640" y="23317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0F1533"/>
          </a:solidFill>
          <a:ln/>
        </p:spPr>
      </p:sp>
      <p:sp>
        <p:nvSpPr>
          <p:cNvPr id="18" name="Text 15"/>
          <p:cNvSpPr/>
          <p:nvPr/>
        </p:nvSpPr>
        <p:spPr>
          <a:xfrm>
            <a:off x="8549640" y="23317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96696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96696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10515600" y="228600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515600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515600" y="297180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515600" y="2971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auth_tag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tin một khóa + IV mới → cùng nội dung vẫn cho ciphertext khác nhau.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+ OAEP — bọc khóa AES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" y="20116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139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key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38328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91840" y="1325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người nhận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20116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F1533"/>
          </a:solidFill>
          <a:ln/>
        </p:spPr>
      </p:sp>
      <p:sp>
        <p:nvSpPr>
          <p:cNvPr id="11" name="Text 8"/>
          <p:cNvSpPr/>
          <p:nvPr/>
        </p:nvSpPr>
        <p:spPr>
          <a:xfrm>
            <a:off x="5532120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encrypted_key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010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9281160" y="201168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281160" y="21396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vào DB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28116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(base64)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37947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PRIVATE KEY của người nhận mới mở được khóa AES.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OAEP (MGF1 + SHA-256) chống tấn công padding.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chỉ bọc khóa 32B — không mã hóa trực tiếp audio.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+ PSS — chữ ký số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" y="20116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1396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(ciphertext)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56616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520440" y="1353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· private key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gửi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77840" y="20116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F1533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552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9235440" y="201168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235440" y="21396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23544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người gửi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37947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người gửi (có private key) mới tạo được chữ ký hợp lệ → chống mạo danh.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đặt trên ciphertext → đảm bảo toàn vẹn nội dung.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 dùng salt ngẫu nhiên → an toàn hơn padding cũ.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gửi tin nhắn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37944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54480" y="16367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AES-256 key + IV ngẫu nhiên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54480" y="1984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hoàn toàn cho mỗi tin nhắn.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478024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41248" y="2679192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80720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2606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AES-GCM(audio) → ciphertext + auth_tag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554480" y="29535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nội dung, tạo tag toàn vẹn.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3447288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3648456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77647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554480" y="35753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bọc AES key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1554480" y="392277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public key của người nhận.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416552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1248" y="4617720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74573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124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554480" y="45445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RSA-PSS ký ciphertext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55448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private key của người gửi.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5385816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71500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554480" y="55138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SQLite + trả payload mã hóa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1554480" y="58613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ciphertext; hiển thị ở Server View.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nhận &amp; giải mã — fail-closed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600200"/>
            <a:ext cx="457200" cy="4572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7282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54480" y="1527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chữ ký RSA-PSS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54480" y="186537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public key người gửi — chạy TRƯỚC TIÊN.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322576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DEBE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41248" y="2505456"/>
            <a:ext cx="457200" cy="45720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63347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24323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→ DỪNG: “chữ ký giả mạo”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54480" y="27706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giải mã bất cứ thứ gì.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3227832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3410712"/>
            <a:ext cx="457200" cy="4572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5387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554480" y="3337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AES key bằng RSA-OAEP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54480" y="36758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private key của người nhận.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133088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1248" y="4315968"/>
            <a:ext cx="457200" cy="45720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4398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124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554480" y="42428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mã AES-GCM + verify auth_tag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45811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sai → DỪNG: “dữ liệu bị sửa”.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503834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" y="5221224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34924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554480" y="51480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 → trả audio gốc → phát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554480" y="5486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khi mọi bước PASS.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601675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fail-closed: verify chữ ký + tag PHẢI xong trước khi trả plaintext.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— DB chỉ lưu ciphertext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4297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tin có IV + khóa AES riêng biệt</a:t>
            </a:r>
            <a:endParaRPr lang="en-US" sz="1550" dirty="0"/>
          </a:p>
          <a:p>
            <a:pPr algn="l" marL="177800" indent="-1778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cột audio gốc trong DB</a:t>
            </a:r>
            <a:endParaRPr lang="en-US" sz="1550" dirty="0"/>
          </a:p>
          <a:p>
            <a:pPr algn="l" marL="177800" indent="-1778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lưu khóa AES ở dạng thô</a:t>
            </a:r>
            <a:endParaRPr lang="en-US" sz="1550" dirty="0"/>
          </a:p>
          <a:p>
            <a:pPr algn="l" marL="177800" indent="-1778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là base64 vô nghĩa nếu thiếu khóa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49377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E6F7F1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5138928"/>
            <a:ext cx="548640" cy="54864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" y="5292547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49377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data.db bằng DB Browser → không nghe được gì.</a:t>
            </a:r>
            <a:endParaRPr lang="en-US" sz="1300" dirty="0"/>
          </a:p>
        </p:txBody>
      </p:sp>
      <p:pic>
        <p:nvPicPr>
          <p:cNvPr id="10" name="Image 2" descr="assets/server_view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1417320"/>
            <a:ext cx="5394960" cy="48625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32120" y="6298119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View thật của ứng dụng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&amp; Server View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950976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trái: chat bình thường  ·  Khu phải: ciphertext server lưu (điểm demo)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706728" y="1371600"/>
            <a:ext cx="8778240" cy="4676140"/>
          </a:xfrm>
          <a:prstGeom prst="roundRect">
            <a:avLst>
              <a:gd name="adj" fmla="val 1564"/>
            </a:avLst>
          </a:prstGeom>
          <a:solidFill>
            <a:srgbClr val="0F1533"/>
          </a:solidFill>
          <a:ln/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pic>
        <p:nvPicPr>
          <p:cNvPr id="7" name="Image 1" descr="assets/app_overvie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8" y="1417320"/>
            <a:ext cx="8686800" cy="4584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tấn công (demo bảo mật)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" y="1962302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ciphertext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914400" y="2606040"/>
            <a:ext cx="2953512" cy="457200"/>
          </a:xfrm>
          <a:prstGeom prst="roundRect">
            <a:avLst>
              <a:gd name="adj" fmla="val 20000"/>
            </a:avLst>
          </a:prstGeom>
          <a:solidFill>
            <a:srgbClr val="E6F7F1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26060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BỊ CHẶN · SignatureError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1440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verify trước → phát hiện ngay.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150876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942" y="19623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496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auth_tag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4617720" y="2606040"/>
            <a:ext cx="2953512" cy="457200"/>
          </a:xfrm>
          <a:prstGeom prst="roundRect">
            <a:avLst>
              <a:gd name="adj" fmla="val 20000"/>
            </a:avLst>
          </a:prstGeom>
          <a:solidFill>
            <a:srgbClr val="E6F7F1"/>
          </a:solidFill>
          <a:ln/>
        </p:spPr>
      </p:sp>
      <p:sp>
        <p:nvSpPr>
          <p:cNvPr id="17" name="Text 12"/>
          <p:cNvSpPr/>
          <p:nvPr/>
        </p:nvSpPr>
        <p:spPr>
          <a:xfrm>
            <a:off x="4617720" y="26060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BỊ CHẶN · TamperError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1772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tag không khớp → chặn.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46720" y="150876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262" y="196230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mạo chữ ký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8321040" y="2606040"/>
            <a:ext cx="2953512" cy="457200"/>
          </a:xfrm>
          <a:prstGeom prst="roundRect">
            <a:avLst>
              <a:gd name="adj" fmla="val 20000"/>
            </a:avLst>
          </a:prstGeom>
          <a:solidFill>
            <a:srgbClr val="E6F7F1"/>
          </a:solidFill>
          <a:ln/>
        </p:spPr>
      </p:sp>
      <p:sp>
        <p:nvSpPr>
          <p:cNvPr id="24" name="Text 18"/>
          <p:cNvSpPr/>
          <p:nvPr/>
        </p:nvSpPr>
        <p:spPr>
          <a:xfrm>
            <a:off x="8321040" y="26060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BỊ CHẶN · SignatureError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32104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chữ ký → từ chối giải mã.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4008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thật trên ứng dụng:</a:t>
            </a:r>
            <a:endParaRPr lang="en-US" sz="1300" dirty="0"/>
          </a:p>
        </p:txBody>
      </p:sp>
      <p:pic>
        <p:nvPicPr>
          <p:cNvPr id="27" name="Image 4" descr="assets/att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244" y="4407408"/>
            <a:ext cx="7589207" cy="1691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kiểm thử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crypto core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5087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CF1FE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5262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API + DB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15087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BF2E0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3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22960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tấn công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1091153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965192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bảo mật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at 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chỉ chứa ciphertext base64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Sửa ciphertext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ký verify trước → chặn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Sửa auth_tag (GCM)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không khớp → TamperError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mạo chữ ký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SignatureError, dừng giải mã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người nhận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RSA-OAEP fail → DecryptKeyError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+ khóa mỗi tin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 nhau hoàn toàn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CF1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02336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nâng cấp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DEBE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F0576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199522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847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đã biết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26517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ở backend → chưa phải E2E thật (server thấy plaintext)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lưu plaintext trên đĩa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tối giản, chưa chống mạo danh ở tầng đăng nhập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mở * cho tiện demo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55080" y="15544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E6F7F1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38100" dir="5400000">
              <a:srgbClr val="0F15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29400" y="1828800"/>
            <a:ext cx="594360" cy="594360"/>
          </a:xfrm>
          <a:prstGeom prst="ellipse">
            <a:avLst/>
          </a:prstGeom>
          <a:solidFill>
            <a:srgbClr val="24B98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1" y="199522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1847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nâng cấp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675120" y="2651760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crypto sang client (Web Crypto API) → E2E thật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PEM bằng passphrase / dùng HSM–KMS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mật khẩu / JWT ràng buộc phiên đăng nhập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 origin, thêm rate-limit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Chat  ·  Đồ án An toàn &amp; Bảo mật thông tin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9722815" y="6419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00400"/>
            <a:ext cx="5029200" cy="5029200"/>
          </a:xfrm>
          <a:prstGeom prst="ellipse">
            <a:avLst/>
          </a:prstGeom>
          <a:solidFill>
            <a:srgbClr val="1B245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4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chứng minh thành công luồng hybrid AES + RSA kèm chữ ký số: nội dung audio được mã hóa, khóa được bọc an toàn, nguồn gốc được xác thực, và mọi sửa đổi đều bị chặn (fail-closed).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1B24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913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749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37560" y="374904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1B24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39136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3749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AES + RSA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35040" y="374904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1B245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91363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3749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số RSA-PSS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732520" y="374904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1B245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39136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0" y="3749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4008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lắng nghe!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Voice Message Chat  ·  An toàn &amp; Bảo mật thông tin  ·  07/2026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Voice Message Chat</dc:title>
  <dc:subject>PptxGenJS Presentation</dc:subject>
  <dc:creator>Secure Voice Chat</dc:creator>
  <cp:lastModifiedBy>Secure Voice Chat</cp:lastModifiedBy>
  <cp:revision>1</cp:revision>
  <dcterms:created xsi:type="dcterms:W3CDTF">2026-07-09T16:25:27Z</dcterms:created>
  <dcterms:modified xsi:type="dcterms:W3CDTF">2026-07-09T16:25:27Z</dcterms:modified>
</cp:coreProperties>
</file>